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 Shashank" userId="e8ac51982f8958ce" providerId="LiveId" clId="{A0A09AB0-30F6-4493-A4F0-C6E610710075}"/>
    <pc:docChg chg="undo custSel modSld">
      <pc:chgData name="G Shashank" userId="e8ac51982f8958ce" providerId="LiveId" clId="{A0A09AB0-30F6-4493-A4F0-C6E610710075}" dt="2026-08-27T04:54:21.349" v="88" actId="20577"/>
      <pc:docMkLst>
        <pc:docMk/>
      </pc:docMkLst>
      <pc:sldChg chg="modSp mod">
        <pc:chgData name="G Shashank" userId="e8ac51982f8958ce" providerId="LiveId" clId="{A0A09AB0-30F6-4493-A4F0-C6E610710075}" dt="2026-08-27T04:54:21.349" v="88" actId="20577"/>
        <pc:sldMkLst>
          <pc:docMk/>
          <pc:sldMk cId="0" sldId="256"/>
        </pc:sldMkLst>
        <pc:spChg chg="mod">
          <ac:chgData name="G Shashank" userId="e8ac51982f8958ce" providerId="LiveId" clId="{A0A09AB0-30F6-4493-A4F0-C6E610710075}" dt="2026-08-27T04:54:21.349" v="88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 wrap="square" anchor="t"/>
          <a:lstStyle/>
          <a:p>
            <a:pPr algn="ctr">
              <a:spcAft>
                <a:spcPts val="500"/>
              </a:spcAft>
            </a:pPr>
            <a:r>
              <a:rPr sz="2800" b="1" dirty="0"/>
              <a:t>Data Structures and Algorithms - 3 (25CS2103E)</a:t>
            </a:r>
          </a:p>
          <a:p>
            <a:pPr algn="ctr">
              <a:spcAft>
                <a:spcPts val="500"/>
              </a:spcAft>
            </a:pPr>
            <a:endParaRPr sz="2800" b="1" dirty="0"/>
          </a:p>
          <a:p>
            <a:pPr algn="ctr">
              <a:spcAft>
                <a:spcPts val="500"/>
              </a:spcAft>
            </a:pPr>
            <a:r>
              <a:rPr sz="2500" b="1" dirty="0">
                <a:latin typeface="Aptos Narrow" panose="020B0004020202020204" pitchFamily="34" charset="0"/>
              </a:rPr>
              <a:t>FAST SUBSTRING SEARCH USING THE</a:t>
            </a:r>
          </a:p>
          <a:p>
            <a:pPr algn="ctr">
              <a:spcAft>
                <a:spcPts val="500"/>
              </a:spcAft>
            </a:pPr>
            <a:r>
              <a:rPr sz="2500" b="1" dirty="0">
                <a:latin typeface="Aptos Narrow" panose="020B0004020202020204" pitchFamily="34" charset="0"/>
              </a:rPr>
              <a:t>KNUTH–MORRIS–PRATT (KMP)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6833" y="3104450"/>
            <a:ext cx="5050303" cy="1668076"/>
          </a:xfrm>
        </p:spPr>
        <p:txBody>
          <a:bodyPr wrap="square" anchor="t"/>
          <a:lstStyle/>
          <a:p>
            <a:pPr algn="ctr">
              <a:spcAft>
                <a:spcPts val="500"/>
              </a:spcAft>
            </a:pPr>
            <a:r>
              <a:rPr sz="1800" b="1" dirty="0">
                <a:solidFill>
                  <a:schemeClr val="accent1">
                    <a:lumMod val="75000"/>
                  </a:schemeClr>
                </a:solidFill>
              </a:rPr>
              <a:t>Team Members</a:t>
            </a: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endParaRPr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spcAft>
                <a:spcPts val="500"/>
              </a:spcAft>
            </a:pPr>
            <a:r>
              <a:rPr sz="1700" b="0" dirty="0"/>
              <a:t>Name: </a:t>
            </a:r>
            <a:r>
              <a:rPr lang="en-IN" sz="1700" dirty="0"/>
              <a:t>G. Cheran Tej Reddy</a:t>
            </a:r>
            <a:r>
              <a:rPr sz="1700" b="0" dirty="0"/>
              <a:t> </a:t>
            </a:r>
            <a:r>
              <a:rPr lang="en-IN" sz="1700" b="0" dirty="0"/>
              <a:t>     </a:t>
            </a:r>
            <a:r>
              <a:rPr sz="1700" b="0" dirty="0"/>
              <a:t>Roll No.: </a:t>
            </a:r>
            <a:r>
              <a:rPr lang="en-IN" sz="1700" dirty="0"/>
              <a:t>2520030466</a:t>
            </a:r>
          </a:p>
          <a:p>
            <a:pPr algn="ctr">
              <a:spcAft>
                <a:spcPts val="500"/>
              </a:spcAft>
            </a:pPr>
            <a:r>
              <a:rPr lang="en-IN" sz="1700" b="0" dirty="0"/>
              <a:t>Name: T.B.S Sunil                      Roll No: 2520030605</a:t>
            </a:r>
            <a:endParaRPr sz="1700" b="0" dirty="0"/>
          </a:p>
          <a:p>
            <a:pPr algn="ctr">
              <a:spcAft>
                <a:spcPts val="500"/>
              </a:spcAft>
            </a:pPr>
            <a:r>
              <a:rPr sz="1700" b="0" dirty="0"/>
              <a:t>Name: </a:t>
            </a:r>
            <a:r>
              <a:rPr lang="en-IN" sz="1700" dirty="0"/>
              <a:t>G. Shashank</a:t>
            </a:r>
            <a:r>
              <a:rPr sz="1700" b="0" dirty="0"/>
              <a:t>  </a:t>
            </a:r>
            <a:r>
              <a:rPr lang="en-IN" sz="1700" b="0" dirty="0"/>
              <a:t>                  </a:t>
            </a:r>
            <a:r>
              <a:rPr sz="1700" b="0" dirty="0"/>
              <a:t>Roll No.: </a:t>
            </a:r>
            <a:r>
              <a:rPr lang="en-IN" sz="1700" dirty="0"/>
              <a:t>2520030495</a:t>
            </a:r>
            <a:endParaRPr sz="1700" b="0" dirty="0"/>
          </a:p>
          <a:p>
            <a:pPr algn="ctr">
              <a:spcAft>
                <a:spcPts val="500"/>
              </a:spcAft>
            </a:pPr>
            <a:endParaRPr sz="1700" b="0" dirty="0"/>
          </a:p>
          <a:p>
            <a:pPr algn="ctr">
              <a:spcAft>
                <a:spcPts val="500"/>
              </a:spcAft>
            </a:pPr>
            <a:r>
              <a:rPr sz="1700" b="0" dirty="0"/>
              <a:t>Under the Esteemed Guidance of</a:t>
            </a:r>
          </a:p>
          <a:p>
            <a:pPr algn="ctr">
              <a:spcAft>
                <a:spcPts val="500"/>
              </a:spcAft>
            </a:pPr>
            <a:r>
              <a:rPr lang="en-IN" sz="1700" dirty="0"/>
              <a:t>Dr. Yamini Devi</a:t>
            </a:r>
            <a:endParaRPr sz="1700" b="0" dirty="0"/>
          </a:p>
          <a:p>
            <a:pPr algn="ctr">
              <a:spcAft>
                <a:spcPts val="500"/>
              </a:spcAft>
            </a:pPr>
            <a:r>
              <a:rPr sz="1700" b="0" dirty="0"/>
              <a:t>DSA-III Faculty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38215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 dirty="0"/>
              <a:t>1. Abstract</a:t>
            </a:r>
          </a:p>
          <a:p>
            <a:pPr algn="l">
              <a:spcAft>
                <a:spcPts val="500"/>
              </a:spcAft>
            </a:pPr>
            <a:r>
              <a:rPr sz="2200" b="0" dirty="0"/>
              <a:t>2. Introduction</a:t>
            </a:r>
          </a:p>
          <a:p>
            <a:pPr algn="l">
              <a:spcAft>
                <a:spcPts val="500"/>
              </a:spcAft>
            </a:pPr>
            <a:r>
              <a:rPr sz="2200" b="0" dirty="0"/>
              <a:t>3. Literature Survey</a:t>
            </a:r>
          </a:p>
          <a:p>
            <a:pPr algn="l">
              <a:spcAft>
                <a:spcPts val="500"/>
              </a:spcAft>
            </a:pPr>
            <a:r>
              <a:rPr sz="2200" b="0" dirty="0"/>
              <a:t>4. Problem Statement and Objectives</a:t>
            </a:r>
          </a:p>
          <a:p>
            <a:pPr algn="l">
              <a:spcAft>
                <a:spcPts val="500"/>
              </a:spcAft>
            </a:pPr>
            <a:r>
              <a:rPr sz="2200" b="0" dirty="0"/>
              <a:t>5. Flow Chart</a:t>
            </a:r>
          </a:p>
          <a:p>
            <a:pPr algn="l">
              <a:spcAft>
                <a:spcPts val="500"/>
              </a:spcAft>
            </a:pPr>
            <a:r>
              <a:rPr sz="2200" b="0" dirty="0"/>
              <a:t>6. Results</a:t>
            </a:r>
          </a:p>
          <a:p>
            <a:pPr algn="l">
              <a:spcAft>
                <a:spcPts val="500"/>
              </a:spcAft>
            </a:pPr>
            <a:r>
              <a:rPr sz="2200" b="0" dirty="0"/>
              <a:t>7. Hardware and Software Requirements</a:t>
            </a:r>
          </a:p>
          <a:p>
            <a:pPr algn="l">
              <a:spcAft>
                <a:spcPts val="500"/>
              </a:spcAft>
            </a:pPr>
            <a:r>
              <a:rPr sz="2200" b="0" dirty="0"/>
              <a:t>8. Conclusion</a:t>
            </a:r>
          </a:p>
          <a:p>
            <a:pPr algn="l">
              <a:spcAft>
                <a:spcPts val="500"/>
              </a:spcAft>
            </a:pPr>
            <a:r>
              <a:rPr sz="2200" b="0" dirty="0"/>
              <a:t>9. 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7221" y="1216793"/>
            <a:ext cx="10241280" cy="4606389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Substring searching is the process of locating a pattern P within a text T.</a:t>
            </a:r>
            <a:endParaRPr lang="en-IN" sz="2000" dirty="0"/>
          </a:p>
          <a:p>
            <a:pPr>
              <a:spcAft>
                <a:spcPts val="800"/>
              </a:spcAft>
            </a:pPr>
            <a:endParaRPr sz="20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The Naïve Pattern Matching method can repeatedly compare the same characters and has O(nm) worst-case time.</a:t>
            </a:r>
            <a:endParaRPr lang="en-IN" sz="2000" dirty="0"/>
          </a:p>
          <a:p>
            <a:pPr>
              <a:spcAft>
                <a:spcPts val="800"/>
              </a:spcAft>
            </a:pPr>
            <a:endParaRPr sz="20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KMP preprocesses the pattern using the Failure Function, also called the LPS (Longest Proper Prefix which is also a Suffix) array.</a:t>
            </a:r>
            <a:endParaRPr lang="en-IN" sz="2000" dirty="0"/>
          </a:p>
          <a:p>
            <a:pPr>
              <a:spcAft>
                <a:spcPts val="800"/>
              </a:spcAft>
            </a:pPr>
            <a:endParaRPr sz="20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The LPS array lets KMP skip redundant comparisons after a mismatch.</a:t>
            </a:r>
            <a:endParaRPr lang="en-IN" sz="2000" dirty="0"/>
          </a:p>
          <a:p>
            <a:pPr>
              <a:spcAft>
                <a:spcPts val="800"/>
              </a:spcAft>
            </a:pPr>
            <a:endParaRPr sz="20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KMP performs pattern preprocessing in O(m) and searching in O(n), giving O(n + m) overall time.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dirty="0"/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273" y="1144604"/>
            <a:ext cx="10241280" cy="5314275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200" dirty="0"/>
              <a:t>String matching is a core problem in text processing and information retrieval.</a:t>
            </a:r>
            <a:endParaRPr lang="en-IN" sz="2200" dirty="0"/>
          </a:p>
          <a:p>
            <a:pPr>
              <a:spcAft>
                <a:spcPts val="800"/>
              </a:spcAft>
            </a:pPr>
            <a:endParaRPr sz="22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200" dirty="0"/>
              <a:t>Given a text T of length n and a pattern P of length m, the goal is to find every occurrence of P in T.</a:t>
            </a:r>
            <a:endParaRPr lang="en-IN" sz="2200" dirty="0"/>
          </a:p>
          <a:p>
            <a:pPr>
              <a:spcAft>
                <a:spcPts val="800"/>
              </a:spcAft>
            </a:pPr>
            <a:endParaRPr sz="22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200" dirty="0"/>
              <a:t>The Naïve approach tries the pattern at successive text positions, which can cause redundant comparisons.</a:t>
            </a:r>
            <a:endParaRPr lang="en-IN" sz="22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2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200" dirty="0"/>
              <a:t>KMP uses information from the pattern itself to decide how far the pattern can continue after a mismatch.</a:t>
            </a:r>
            <a:endParaRPr lang="en-IN" sz="2200" dirty="0"/>
          </a:p>
          <a:p>
            <a:pPr>
              <a:spcAft>
                <a:spcPts val="800"/>
              </a:spcAft>
            </a:pPr>
            <a:endParaRPr sz="22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200" dirty="0"/>
              <a:t>In DSA-III, KMP is studied as an efficient string algorithm for pattern search in large text repositories and </a:t>
            </a:r>
            <a:r>
              <a:rPr sz="2200" dirty="0" err="1"/>
              <a:t>TextHack</a:t>
            </a:r>
            <a:r>
              <a:rPr sz="2200" dirty="0"/>
              <a:t>-style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dirty="0"/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08760"/>
          <a:ext cx="10287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300"/>
                        <a:t>Approach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Main Idea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Worst/Typical Time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Limitation / Note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/>
                        <a:t>Naïve Matching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Compare pattern at each possible position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O(nm)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Repeated comparisons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/>
                        <a:t>KMP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Failure Function / LPS avoids redundant comparisons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O(n + m)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Requires preprocessing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/>
                        <a:t>Z-Function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Computes Z-values for string matching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O(n + m)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Alternative linear-time method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/>
                        <a:t>Rabin–Karp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Polynomial rolling hash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Average-case linear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r>
                        <a:rPr sz="1300"/>
                        <a:t>Hash collisions must be handled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5074920"/>
            <a:ext cx="10058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1400"/>
              <a:t>Project focus: KMP — failure function, preprocessing intuition, and linear-time pattern 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dirty="0"/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110543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2000" b="1" dirty="0"/>
              <a:t>Problem Statement</a:t>
            </a:r>
            <a:r>
              <a:rPr lang="en-IN" sz="2000" b="1" dirty="0"/>
              <a:t>:</a:t>
            </a:r>
            <a:endParaRPr sz="2000" b="1" dirty="0"/>
          </a:p>
          <a:p>
            <a:pPr>
              <a:spcAft>
                <a:spcPts val="700"/>
              </a:spcAft>
            </a:pPr>
            <a:r>
              <a:rPr sz="2000" dirty="0"/>
              <a:t>Repeated character-by-character searching can be inefficient for large texts. The project aims to implement a faster substring-search method using KMP and reduce redundant comparisons.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241280" cy="1887696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Understand the string-matching problem and the limitations of Naïve Matching.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Construct the Failure Function / LPS array for a pattern.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Implement KMP to identify pattern occurrences in a text.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Compare KMP with Naïve Pattern Matching using time complexity and search behavior.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 dirty="0"/>
              <a:t>Demonstrate why KMP scales better for large text-search operations.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/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17320"/>
            <a:ext cx="320040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START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0" y="1764792"/>
            <a:ext cx="0" cy="109727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0" y="1874519"/>
            <a:ext cx="905256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Input Text T and Pattern 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0" y="2221991"/>
            <a:ext cx="0" cy="109729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2331720"/>
            <a:ext cx="905256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Construct LPS / Failure Function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0" y="2679191"/>
            <a:ext cx="0" cy="109729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2788920"/>
            <a:ext cx="905256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Set i = 0, j = 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3136391"/>
            <a:ext cx="0" cy="109729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3246120"/>
            <a:ext cx="905256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Compare T[i] and P[j]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3593591"/>
            <a:ext cx="0" cy="109729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4206240" y="3666744"/>
            <a:ext cx="2834640" cy="438912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Match?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4050791"/>
            <a:ext cx="0" cy="109729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97280" y="4160520"/>
            <a:ext cx="905256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If mismatch and j &gt; 0: j = LPS[j−1]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0" y="4507992"/>
            <a:ext cx="0" cy="109728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97280" y="4617720"/>
            <a:ext cx="905256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If j = 0 on mismatch: i = i + 1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4965192"/>
            <a:ext cx="0" cy="109728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97280" y="5074920"/>
            <a:ext cx="905256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If j = m: report match; j = LPS[j−1]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0" y="5422392"/>
            <a:ext cx="0" cy="109728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97280" y="5532120"/>
            <a:ext cx="905256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Continue until i = 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5879592"/>
            <a:ext cx="0" cy="109728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23360" y="5989320"/>
            <a:ext cx="3200400" cy="3474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/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dirty="0"/>
              <a:t>Results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5212080" cy="22955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2000" b="1" dirty="0"/>
              <a:t>Example</a:t>
            </a:r>
          </a:p>
          <a:p>
            <a:pPr>
              <a:spcAft>
                <a:spcPts val="700"/>
              </a:spcAft>
            </a:pPr>
            <a:r>
              <a:rPr sz="1900" dirty="0"/>
              <a:t>Text    : ABABDABACDABABCABAB</a:t>
            </a:r>
          </a:p>
          <a:p>
            <a:pPr>
              <a:spcAft>
                <a:spcPts val="700"/>
              </a:spcAft>
            </a:pPr>
            <a:r>
              <a:rPr sz="1900" dirty="0"/>
              <a:t>Pattern : ABABCABAB</a:t>
            </a:r>
          </a:p>
          <a:p>
            <a:pPr>
              <a:spcAft>
                <a:spcPts val="700"/>
              </a:spcAft>
            </a:pPr>
            <a:r>
              <a:rPr sz="1900" dirty="0"/>
              <a:t>LPS     : 0 0 1 2 0 1 2 3 4</a:t>
            </a:r>
          </a:p>
          <a:p>
            <a:pPr>
              <a:spcAft>
                <a:spcPts val="700"/>
              </a:spcAft>
            </a:pPr>
            <a:endParaRPr sz="1900" dirty="0"/>
          </a:p>
          <a:p>
            <a:pPr>
              <a:spcAft>
                <a:spcPts val="700"/>
              </a:spcAft>
            </a:pPr>
            <a:r>
              <a:rPr sz="1900" dirty="0"/>
              <a:t>Result: Pattern found at index 10 (0-based).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417320"/>
            <a:ext cx="4572000" cy="287771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2000" b="1" dirty="0"/>
              <a:t>Complexity Analysis</a:t>
            </a:r>
          </a:p>
          <a:p>
            <a:pPr>
              <a:spcAft>
                <a:spcPts val="700"/>
              </a:spcAft>
            </a:pPr>
            <a:r>
              <a:rPr sz="1800" dirty="0"/>
              <a:t>• LPS preprocessing: O(m)</a:t>
            </a:r>
          </a:p>
          <a:p>
            <a:pPr>
              <a:spcAft>
                <a:spcPts val="700"/>
              </a:spcAft>
            </a:pPr>
            <a:r>
              <a:rPr sz="1800" dirty="0"/>
              <a:t>• KMP search: O(n)</a:t>
            </a:r>
          </a:p>
          <a:p>
            <a:pPr>
              <a:spcAft>
                <a:spcPts val="700"/>
              </a:spcAft>
            </a:pPr>
            <a:r>
              <a:rPr sz="1800" dirty="0"/>
              <a:t>• Overall time: O(n + m)</a:t>
            </a:r>
          </a:p>
          <a:p>
            <a:pPr>
              <a:spcAft>
                <a:spcPts val="700"/>
              </a:spcAft>
            </a:pPr>
            <a:r>
              <a:rPr sz="1800" dirty="0"/>
              <a:t>• Extra space: O(m) for the LPS array</a:t>
            </a:r>
          </a:p>
          <a:p>
            <a:pPr>
              <a:spcAft>
                <a:spcPts val="700"/>
              </a:spcAft>
            </a:pPr>
            <a:endParaRPr sz="1800" dirty="0"/>
          </a:p>
          <a:p>
            <a:pPr>
              <a:spcAft>
                <a:spcPts val="700"/>
              </a:spcAft>
            </a:pPr>
            <a:r>
              <a:rPr sz="1800" dirty="0"/>
              <a:t>Compared with Naïve Matching: worst-case O(nm).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97840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1600"/>
              <a:t>Key observation: KMP never moves the text pointer backward; the LPS value determines the next pattern position after a mismatch.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/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601200" cy="38241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</a:pPr>
            <a:r>
              <a:rPr sz="2000" b="1" dirty="0"/>
              <a:t>Hardware Requirements</a:t>
            </a:r>
            <a:r>
              <a:rPr lang="en-IN" sz="2000" b="1" dirty="0"/>
              <a:t>:</a:t>
            </a:r>
            <a:endParaRPr sz="2000" b="1" dirty="0"/>
          </a:p>
          <a:p>
            <a:pPr>
              <a:spcAft>
                <a:spcPts val="700"/>
              </a:spcAft>
            </a:pPr>
            <a:r>
              <a:rPr sz="1900" dirty="0"/>
              <a:t>• Dual-Core processor or above</a:t>
            </a:r>
          </a:p>
          <a:p>
            <a:pPr>
              <a:spcAft>
                <a:spcPts val="700"/>
              </a:spcAft>
            </a:pPr>
            <a:r>
              <a:rPr sz="1900" dirty="0"/>
              <a:t>• 4 GB RAM or above</a:t>
            </a:r>
          </a:p>
          <a:p>
            <a:pPr>
              <a:spcAft>
                <a:spcPts val="700"/>
              </a:spcAft>
            </a:pPr>
            <a:r>
              <a:rPr sz="1900" dirty="0"/>
              <a:t>• Standard keyboard, display and storage</a:t>
            </a:r>
          </a:p>
          <a:p>
            <a:pPr>
              <a:spcAft>
                <a:spcPts val="700"/>
              </a:spcAft>
            </a:pPr>
            <a:endParaRPr sz="1900" dirty="0"/>
          </a:p>
          <a:p>
            <a:pPr>
              <a:spcAft>
                <a:spcPts val="700"/>
              </a:spcAft>
            </a:pPr>
            <a:r>
              <a:rPr sz="2000" b="1" dirty="0"/>
              <a:t>Software Requirements</a:t>
            </a:r>
            <a:r>
              <a:rPr lang="en-IN" sz="2000" b="1" dirty="0"/>
              <a:t>:</a:t>
            </a:r>
            <a:endParaRPr sz="2000" b="1" dirty="0"/>
          </a:p>
          <a:p>
            <a:pPr>
              <a:spcAft>
                <a:spcPts val="700"/>
              </a:spcAft>
            </a:pPr>
            <a:r>
              <a:rPr sz="1900" dirty="0"/>
              <a:t>• Windows / Linux / macOS</a:t>
            </a:r>
          </a:p>
          <a:p>
            <a:pPr>
              <a:spcAft>
                <a:spcPts val="700"/>
              </a:spcAft>
            </a:pPr>
            <a:r>
              <a:rPr sz="1900" dirty="0"/>
              <a:t>•  Java or </a:t>
            </a:r>
          </a:p>
          <a:p>
            <a:pPr>
              <a:spcAft>
                <a:spcPts val="700"/>
              </a:spcAft>
            </a:pPr>
            <a:r>
              <a:rPr sz="1900" dirty="0"/>
              <a:t>• VS Co</a:t>
            </a:r>
            <a:r>
              <a:rPr lang="en-IN" sz="1900" dirty="0"/>
              <a:t>de</a:t>
            </a:r>
            <a:endParaRPr sz="1900" dirty="0"/>
          </a:p>
          <a:p>
            <a:pPr>
              <a:spcAft>
                <a:spcPts val="700"/>
              </a:spcAft>
            </a:pPr>
            <a:r>
              <a:rPr sz="1900" dirty="0"/>
              <a:t>• Appropriate compiler or interpreter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461952" y="238687"/>
            <a:ext cx="687185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126" y="1601804"/>
            <a:ext cx="10241280" cy="2349361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KMP provides an efficient solution to the substring-searching problem.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The Failure Function / LPS array is the key idea that prevents redundant comparisons.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Preprocessing takes O(m) and searching takes O(n), resulting in O(n + m) time.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KMP is therefore suitable for efficient pattern search in large text-processing applications.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/>
              <a:t>The project demonstrates the practical importance of algorithm selection based on time complexity and scalability.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19646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900" dirty="0"/>
              <a:t>Integrate KMP into large-scale document and keyword-search systems.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900" dirty="0"/>
              <a:t>Benchmark KMP against Z-Function and Rabin–Karp on representative datasets.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900" dirty="0"/>
              <a:t>Extend the system to multi-pattern matching using Aho–</a:t>
            </a:r>
            <a:r>
              <a:rPr sz="1900" dirty="0" err="1"/>
              <a:t>Corasick</a:t>
            </a:r>
            <a:r>
              <a:rPr sz="1900" dirty="0"/>
              <a:t>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900" dirty="0"/>
              <a:t>Explore suffix arrays and LCP techniques for document similarity and related text tasks.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900" dirty="0"/>
              <a:t>Optimize implementations for large text repositories and real-time search workloads.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5"/>
            <a:ext cx="4946253" cy="176011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500"/>
              </a:spcAft>
            </a:pPr>
            <a:r>
              <a:rPr sz="3000" b="1" dirty="0"/>
              <a:t>THANK YOU</a:t>
            </a:r>
            <a:endParaRPr lang="en-US" sz="3200" b="1" dirty="0"/>
          </a:p>
          <a:p>
            <a:pPr algn="ctr">
              <a:spcAft>
                <a:spcPts val="500"/>
              </a:spcAft>
            </a:pPr>
            <a:endParaRPr lang="en-US" sz="3200" b="1" dirty="0"/>
          </a:p>
          <a:p>
            <a:pPr algn="ctr">
              <a:spcAft>
                <a:spcPts val="500"/>
              </a:spcAft>
            </a:pPr>
            <a:r>
              <a:rPr sz="30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851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 Narrow</vt:lpstr>
      <vt:lpstr>Arial</vt:lpstr>
      <vt:lpstr>Office Theme</vt:lpstr>
      <vt:lpstr>Data Structures and Algorithms - 3 (25CS2103E)  FAST SUBSTRING SEARCH USING THE KNUTH–MORRIS–PRATT (KMP)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G Shashank</cp:lastModifiedBy>
  <cp:revision>20</cp:revision>
  <dcterms:created xsi:type="dcterms:W3CDTF">2024-08-29T05:25:00Z</dcterms:created>
  <dcterms:modified xsi:type="dcterms:W3CDTF">2026-08-27T04:54:24Z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